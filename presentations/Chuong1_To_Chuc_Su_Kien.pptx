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diff-festi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0"/>
            <a:ext cx="7498079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7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0"/>
            <a:ext cx="182880" cy="6858000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D48A2C"/>
                </a:solidFill>
                <a:latin typeface="Calibri"/>
              </a:rPr>
              <a:t>MÔN HỌC · TỔ CHỨC SỰ KIỆN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Chương 1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Cơ sở lý thuyết &amp;</a:t>
            </a:r>
          </a:p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phân tích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8D8E0"/>
                </a:solidFill>
                <a:latin typeface="Calibri"/>
              </a:rPr>
              <a:t>Mục 1.3 – 1.6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8D8E0"/>
                </a:solidFill>
                <a:latin typeface="Calibri"/>
              </a:rPr>
              <a:t>Thành phần · Yếu tố ảnh hưởng · Tác động · Sự kiện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C0CC"/>
                </a:solidFill>
                <a:latin typeface="Calibri"/>
              </a:rPr>
              <a:t>Ví dụ: DIFF 2026 · Festival Biển Khánh Hòa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A8C0CC"/>
                </a:solidFill>
                <a:latin typeface="Calibri"/>
              </a:rPr>
              <a:t>Festival Huế · WWDC26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48A2C"/>
                </a:solidFill>
                <a:latin typeface="Calibri"/>
              </a:rPr>
              <a:t>Thuyết trình học thuật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NỘI DUNG THUYẾT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Mục lục chương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1907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Các thành phần tham gia — DIFF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06039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39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70631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1.3.2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17519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Thị trường tổ chức sự kiện tại Việt Nam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2219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0690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Yếu tố vĩ mô — Festival Biển Khánh Hòa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0915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709159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37759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73751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1.4.2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20639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Yếu tố vi mô — Lễ tốt nghiệp (giả định)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55448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554480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78308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71907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1.5.1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196596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Tác động tích cực — Festival Huế 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60603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2606039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834639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770631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017519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Tác động tiêu cực &amp; hạn chế — DIFF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657600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3657600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886200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382219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1.6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0690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Sự kiện online / hybrid — WWDC26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709159"/>
            <a:ext cx="539496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709159"/>
            <a:ext cx="822960" cy="8686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937759"/>
            <a:ext cx="822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4873751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B7A9A"/>
                </a:solidFill>
                <a:latin typeface="Calibri"/>
              </a:rPr>
              <a:t>KL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120639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332"/>
                </a:solidFill>
                <a:latin typeface="Calibri"/>
              </a:rPr>
              <a:t>Kết luận chương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1.3.1 CÁC THÀNH PHẦN THAM 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Ai tham gia tổ chức sự kiện?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Ví dụ xuyên suốt: Lễ hội pháo hoa quốc tế Đà Nẵng (DIFF) 2026</a:t>
            </a:r>
          </a:p>
        </p:txBody>
      </p:sp>
      <p:pic>
        <p:nvPicPr>
          <p:cNvPr id="8" name="Picture 7" descr="stakeholders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4114800" cy="23145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160020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Chủ sự kiện / phối hợp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UBND Đà Nẵng + Sun Group: mục tiêu, nguồn lực, thẩm quyền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60020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60020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173736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Nhà tài trợ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205740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Tiền / sản phẩm / dịch vụ ↔ quyền lợi truyền thông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15468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Đơn vị tổ chức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747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Kịch bản, lịch 6 đêm, điều phối &amp; rủi 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01752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301752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7" y="315468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Nhà cung 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7" y="347472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Sân khấu, âm thanh, an ninh, hậu cần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7200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Khán giả &amp; truyền thông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8920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Trải nghiệm hành trình + khu tác nghiệp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4434840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4434840"/>
            <a:ext cx="73152" cy="12801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8807" y="4572000"/>
            <a:ext cx="3063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Chính quyền &amp; cộng đồng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7" y="48920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Giao thông, trật tự, sinh hoạt đô thị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1.3.1 PHÂN TÍCH SÂU — DIFF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Bài học quản trị các bên liên quan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109728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Không đồng nhất vai trò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Chủ sự kiện ≠ nhà tài trợ. Đơn vị tổ chức không nhất thiết tự làm mọi dịch vụ.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57600" cy="109728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Thống nhất mục tiêu sớm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Quảng bá du lịch phải khớp giới hạn hạ tầng &amp; an toàn; thống nhất chỉ số đánh giá.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657600" cy="109728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2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Điều hành đa đêm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DIFF 6 đêm (30/5–11/7/2026): lịch diễn, tổng duyệt, kỹ thuật, truyền thông theo chuỗi.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3657600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6907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Đo bằng hành trình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79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Chất lượng = tiết mục + đón khách + di chuyển + chỉ dẫn + an toàn.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49039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49039"/>
            <a:ext cx="3657600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06907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Ràng buộc nhà tài trợ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526279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Vị trí quảng bá, thời gian, quyền lợi &amp; nghĩa vụ trong thỏa thuận.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749039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657600" cy="109728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79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Đầu mối chung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526279"/>
            <a:ext cx="3200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Lập sơ đồ stakeholder, bảng phân công và kênh liên lạc thống nhất.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1.3.2 THỊ TRƯỜNG TỔ CHỨC SỰ KIỆN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Thị trường Việt Nam &amp; vị trí của DIFF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335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Hội nghị – hội thảo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7335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Du lịch MICE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7335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Hội chợ – triển lãm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0876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7335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Lễ hội văn hóa – du lịch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Thể thao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45059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Nghệ thuật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5059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Sự kiện thương hiệu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450592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4F6C"/>
                </a:solidFill>
                <a:latin typeface="Calibri"/>
              </a:rPr>
              <a:t>Online / Hybrid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11247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09728" cy="2743200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DIFF 2026 trong thị trường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Giao điểm: lễ hội – biểu diễn nghệ thuật – du lịch.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Chuỗi dịch vụ nhiều nhà cung cấp: trình diễn, kỹ thuật, quảng bá, bán vé, đón tiếp.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Quy mô đa đêm → chuyên môn hóa cao; chi phí điều phối cũng tăng.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Bài học: đánh giá năng lực nhà thầu, tiêu chuẩn dịch vụ, đầu mối liên hệ chung.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Lưu ý: không dùng nhận định cũ “VN chưa có ngành tổ chức sự kiện độc lập” cho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1.4.1 CÁC YẾU TỐ VĨ MÔ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Sáu nhóm môi trường bên ngoài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Ví dụ: Festival Biển Khánh Hòa 2026 (17–19/7) — “Sắc màu đại dương – Vươn tầm quốc tế”</a:t>
            </a:r>
          </a:p>
        </p:txBody>
      </p:sp>
      <p:pic>
        <p:nvPicPr>
          <p:cNvPr id="8" name="Picture 7" descr="festival-bien-khanh-h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554480"/>
            <a:ext cx="4572000" cy="2571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155448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1907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Nhân khẩu học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4505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Kinh tế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8211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Tự nhiên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4904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8620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136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Công nghệ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4515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Chính trị – pháp luật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63093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777240" cy="64008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49240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37667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Calibri"/>
              </a:rPr>
              <a:t>Văn hóa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1.4.1 PHÂN TÍCH — FESTIVAL BIỂN KHÁNH HÒA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Tác động qua lại của 6 yếu tố vĩ mô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45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Nhân khẩu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65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Carnival &amp; văn hóa thu hút nhiều nhóm tuổi → phân nhóm khán giả, chỉ dẫn, khu hỗ trợ.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08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45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Kinh tế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AR Realtime, 3D Mapping, truyền hình → ngân sách theo hạng mục + dự phòng thử nghiệm.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508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645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Tự nhiên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1965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Ven biển đẹp nhưng rủi ro mưa gió → ngưỡng dừng/hoãn, trú tránh, bảo vệ thiết bị.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794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931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Công nghệ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251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Hiệu ứng thị giác mạnh; cần đồng bộ tín hiệu, kiểm thử nhiều vòng, kỹ thuật trực.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794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931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Chính trị – PL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251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Diễu hành ngoài trời: an toàn, bản quyền, tiếng ồn → danh mục pháp lý sớm.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794760"/>
            <a:ext cx="73152" cy="20574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7" y="3931920"/>
            <a:ext cx="3428999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4F6C"/>
                </a:solidFill>
                <a:latin typeface="Calibri"/>
              </a:rPr>
              <a:t>Văn hóa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4251960"/>
            <a:ext cx="342899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Cân bằng kỹ xảo hiện đại với bản sắc biển Khánh Hòa — tránh thông điệp nông.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1.4.2 CÁC YẾU TỐ VI MÔ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Nhân sự · Ngân sách · Nhà cung ứng · Địa điểm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Tình huống giả định: Lễ tốt nghiệp 500 sinh viên &amp; người thân</a:t>
            </a:r>
          </a:p>
        </p:txBody>
      </p:sp>
      <p:pic>
        <p:nvPicPr>
          <p:cNvPr id="8" name="Picture 7" descr="graduation-ev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4023360" cy="22631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150876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Nhân sự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45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2 bàn đón tiếp dễ ùn → chia làn, check-in QR, trưởng 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Ngân sách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Tách cố định / biến đổi / dự phòng; người duyệt phát sinh.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4495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Nhà cung ứng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10896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Màn hình xa hỏng → chạy thử + thiết bị dự phòng.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7647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Địa điểm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404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Sảnh nhỏ = điểm nghẽn; khảo sát sức chứa &amp; lối đi.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0799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Người tham dự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7200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Tập trung cùng giờ → khung giờ / chỉ dẫn rõ.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66360"/>
            <a:ext cx="69494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39512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Phối hợp ngoài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3035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Bảo vệ – y tế – kỹ thuật: một đầu mối điều hành.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1.5.1 TÁC ĐỘNG TÍCH CỰC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Giá trị kinh tế · văn hóa · xã hội · điểm đến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Ví dụ: Festival Huế 2026 — hoạt động theo bốn mùa</a:t>
            </a:r>
          </a:p>
        </p:txBody>
      </p:sp>
      <p:pic>
        <p:nvPicPr>
          <p:cNvPr id="8" name="Picture 7" descr="festival-h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943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1554480"/>
            <a:ext cx="73152" cy="96012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691640"/>
            <a:ext cx="5623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Kinh tế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0116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Kéo dài lưu trú → lưu trú, ẩm thực, di chuyển, mua sắm (cần dữ liệu hậu sự kiện).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651760"/>
            <a:ext cx="5943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651760"/>
            <a:ext cx="73152" cy="96012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2788920"/>
            <a:ext cx="5623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Văn hóa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310896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Nghệ thuật đường phố đưa di sản gần người xem; tôn trọng không gian lịch sử.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749039"/>
            <a:ext cx="5943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3749039"/>
            <a:ext cx="73152" cy="96012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3886199"/>
            <a:ext cx="5623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Xã hội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4206239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Cơ hội tham gia cộng đồng nếu dễ tiếp cận &amp; ít gián đoạn sinh hoạt.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846320"/>
            <a:ext cx="59436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720" y="4846320"/>
            <a:ext cx="73152" cy="96012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1888" y="4983480"/>
            <a:ext cx="5623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4F6C"/>
                </a:solidFill>
                <a:latin typeface="Calibri"/>
              </a:rPr>
              <a:t>Hình ảnh điểm đến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530352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Chuỗi bốn mùa tạo điểm nhấn xuyên năm — đo bằng hài lòng &amp; khả năng quay lại.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1.5.2 TÁC ĐỘNG TIÊU CỰC &amp; HẠN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Nguy cơ cần quản trị tại DIFF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Các tình huống dưới đây là nguy cơ phân tích — không phải sự cố đã xác nhận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54480"/>
            <a:ext cx="3749039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Ùn tắc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Phân luồng, công bố điểm đến/đi, hỗ trợ tại nút giao.
Theo dõi: thời gian chờ, mật độ.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749039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Quá tải khán giả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Kiểm soát sức chứa, lối ra/vào, phân tán khu xem.
Theo dõi: mật độ từng khu.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5448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554480"/>
            <a:ext cx="3749039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64592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Rác thải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19456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Thùng phân loại, đội thu gom sau từng đêm.
Theo dõi: khối lượng &amp; thời gian sạch.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794760"/>
            <a:ext cx="3749039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862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Tiếng ồn / cư dân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Thông báo sớm, kiểm soát âm thanh, kênh phản ánh.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794760"/>
            <a:ext cx="3749039" cy="45720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8862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Khẩn cấp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3484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Điểm y tế, lối tiếp cận, đầu mối chỉ huy, diễn tập.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794760"/>
            <a:ext cx="3749039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794760"/>
            <a:ext cx="3749039" cy="457200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3886200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Cân bằng lợi ích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434840"/>
            <a:ext cx="3383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Kinh tế – văn hóa ↔ chi phí môi trường, hạ tầng, cộng đồng.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1.6.1 SỰ KIỆN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Khái niệm · đặc điểm · mô hình hybrid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Ví dụ: Apple WWDC26 (8–12/6/2026) — Keynote online + hoạt động tại Apple Park</a:t>
            </a:r>
          </a:p>
        </p:txBody>
      </p:sp>
      <p:pic>
        <p:nvPicPr>
          <p:cNvPr id="8" name="Picture 7" descr="hybrid-online-ev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54480"/>
            <a:ext cx="4480560" cy="2520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554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Online ≠ chỉ livestream: live, video sẵn, Q&amp;A, tương tác, thư viện nội dung.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Hybrid = trải nghiệm tại chỗ + trải nghiệm số — thiết kế hành trình riêng cho từng nhóm.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332"/>
                </a:solidFill>
                <a:latin typeface="Calibri"/>
              </a:rPr>
              <a:t>• WWDC26: Keynote đa nền tảng + 100+ session video + ngày trực tiếp tại Apple Park.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23360"/>
            <a:ext cx="2057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023360"/>
            <a:ext cx="73152" cy="1920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160520"/>
            <a:ext cx="1737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Tiếp cận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805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Người ở xa xem được; xem lại giảm lệch múi giờ.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023360"/>
            <a:ext cx="2057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4023360"/>
            <a:ext cx="73152" cy="1920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4160520"/>
            <a:ext cx="1737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Phân tầng nội dung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44805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Keynote tổng quát + phiên chuyên môn theo nhu cầu.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023360"/>
            <a:ext cx="2057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4023360"/>
            <a:ext cx="73152" cy="1920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4160520"/>
            <a:ext cx="1737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Đo lường gợi 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3208" y="44805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Lượt xem, thời lượng, phiên sâu, phản hồi.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1.6.2 ƯU &amp; NHƯỢC ĐIỂM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Nhìn qua mô hình WWDC26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5486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Ưu điểm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Tiếp cận toàn cầu, không cần di chuyển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Giảm chi phí đi lại – lưu trú cho người tham dự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Nội dung chuyên môn có thể xem lại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Đo lường đăng ký, tương tác, thời lượng xem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Phân tầng session giúp học theo nhu cầu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486400" cy="548640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Nhược điểm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Thiếu tương tác trực diện / networking tại chỗ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Phụ thuộc đường truyền, nền tảng, phụ đề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Chi phí sản xuất – vận hành kỹ thuật vẫn cao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Dễ phân tán chú ý khi nội dung dài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2332"/>
                </a:solidFill>
                <a:latin typeface="Calibri"/>
              </a:rPr>
              <a:t>• Bảo mật dữ liệu &amp; bản quyền cần dự phòng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1.6.3 CÁC LOẠI HÌNH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Webinar · Video conference · Trade show · Concert · Hybrid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nline-event-typ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303520" cy="29832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46304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73152" cy="777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60020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Webinar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92024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1–vài diễn giả → nhiều người; trọng tâm chia sẻ + Q&amp;A.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33172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331720"/>
            <a:ext cx="73152" cy="777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46888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Video conference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78892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Nhóm nhỏ thảo luận 2 chiều, đồng biên tập, ra quyết định.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0040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3200400"/>
            <a:ext cx="73152" cy="777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33756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Online trade 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65760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Gian hàng số: trưng bày, tài liệu, kết nối tư vấn.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069079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4069079"/>
            <a:ext cx="73152" cy="777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4206239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Online concert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526279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Hình ảnh – âm thanh – cảm xúc; tương tác tùy thiết kế.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93776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4937760"/>
            <a:ext cx="73152" cy="77724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5074920"/>
            <a:ext cx="5349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4F6C"/>
                </a:solidFill>
                <a:latin typeface="Calibri"/>
              </a:rPr>
              <a:t>Hybrid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539496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Mục tiêu riêng cho tại chỗ &amp; từ xa — không chỉ 1 camera.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1.6.4 LƯU Ý TỔ CHỨC ONLINE HIỆU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Quy trình &amp; KPI mẫu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Tình huống giả định: Hội thảo hướng nghiệp cho sinh viên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1. Mục tiêu SMART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200 ĐK · ≥120 dự · ≥40% khảo sát · ≥4/5 hài lòng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2. Nền tảng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Sức chứa, Q&amp;A, ghi hình, bảo mật, kiểm tra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87452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3. Phân vai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46888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MC · Diễn giả · Kỹ thuật · Quản lý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9476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4. Kịch bản phút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Mở đầu → trình bày → Q&amp;A → khảo sát → tài liệu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9476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11480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5. Chạy thử +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70916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Mic/cam/share; mất mạng → Q&amp;A sẵn / video dự phòng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794760"/>
            <a:ext cx="3749039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9" y="4114800"/>
            <a:ext cx="3291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4F6C"/>
                </a:solidFill>
                <a:latin typeface="Calibri"/>
              </a:rPr>
              <a:t>6. Đo lường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4709160"/>
            <a:ext cx="32918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332"/>
                </a:solidFill>
                <a:latin typeface="Calibri"/>
              </a:rPr>
              <a:t>Tỷ lệ dự = dự/ĐK; phản hồi = trả lời/dự ×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B7A9A"/>
                </a:solidFill>
                <a:latin typeface="Calibri"/>
              </a:rPr>
              <a:t>KẾT LUẬN CHƯƠNG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73345"/>
                </a:solidFill>
                <a:latin typeface="Calibri"/>
              </a:rPr>
              <a:t>Ba thông điệp then chốt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" cy="73152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657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657600" cy="8229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D48A2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4F6C"/>
                </a:solidFill>
                <a:latin typeface="Calibri"/>
              </a:rPr>
              <a:t>Điều phối nhiều bên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108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2332"/>
                </a:solidFill>
                <a:latin typeface="Calibri"/>
              </a:rPr>
              <a:t>Tổ chức sự kiện = phối hợp stakeholder chịu tác động vĩ mô &amp; vi mô.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657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657600" cy="8229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830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D48A2C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4F6C"/>
                </a:solidFill>
                <a:latin typeface="Calibri"/>
              </a:rPr>
              <a:t>Lợi ích &amp; chi phí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108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2332"/>
                </a:solidFill>
                <a:latin typeface="Calibri"/>
              </a:rPr>
              <a:t>Tạo giá trị kinh tế – văn hóa – xã hội nhưng gây áp lực hạ tầng &amp; cộng đồng.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6576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3657600" cy="822960"/>
          </a:xfrm>
          <a:prstGeom prst="rect">
            <a:avLst/>
          </a:prstGeom>
          <a:solidFill>
            <a:srgbClr val="0B4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7830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D48A2C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4F6C"/>
                </a:solidFill>
                <a:latin typeface="Calibri"/>
              </a:rPr>
              <a:t>Online /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383280"/>
            <a:ext cx="31089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1A2332"/>
                </a:solidFill>
                <a:latin typeface="Calibri"/>
              </a:rPr>
              <a:t>Tiếp cận rộng phải kèm nội dung phù hợp, công nghệ, dự phòng và đo lường.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4A5563"/>
                </a:solidFill>
                <a:latin typeface="Calibri"/>
              </a:rPr>
              <a:t>Câu hỏi thảo luận: Với sự kiện quy mô đông người ngoài trời, ưu tiên chỉ số nào trước — trải nghiệm khán giả, an toàn cộng đồng, hay hiệu quả truyền thông điểm đến?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4A5563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4A5563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diff-festi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1920240"/>
            <a:ext cx="9418320" cy="3017520"/>
          </a:xfrm>
          <a:prstGeom prst="rect">
            <a:avLst/>
          </a:prstGeom>
          <a:solidFill>
            <a:srgbClr val="073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9418320" cy="109728"/>
          </a:xfrm>
          <a:prstGeom prst="rect">
            <a:avLst/>
          </a:prstGeom>
          <a:solidFill>
            <a:srgbClr val="D48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377440"/>
            <a:ext cx="90525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Cảm ơn quý thầy cô và các bạn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200400"/>
            <a:ext cx="9052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D48A2C"/>
                </a:solidFill>
                <a:latin typeface="Calibri"/>
              </a:rPr>
              <a:t>Chương 1 · Tổ chức sự kiện · Mục 1.3–1.6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0"/>
            <a:ext cx="9052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C8D8E0"/>
                </a:solidFill>
                <a:latin typeface="Calibri"/>
              </a:rPr>
              <a:t>Sẵn sàng trao đổi &amp; nhận câu hỏi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